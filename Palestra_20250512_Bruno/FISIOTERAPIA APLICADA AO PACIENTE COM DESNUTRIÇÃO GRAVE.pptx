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  <p:sldMasterId id="2147483837" r:id="rId2"/>
  </p:sldMasterIdLst>
  <p:notesMasterIdLst>
    <p:notesMasterId r:id="rId42"/>
  </p:notesMasterIdLst>
  <p:handoutMasterIdLst>
    <p:handoutMasterId r:id="rId43"/>
  </p:handoutMasterIdLst>
  <p:sldIdLst>
    <p:sldId id="256" r:id="rId3"/>
    <p:sldId id="274" r:id="rId4"/>
    <p:sldId id="417" r:id="rId5"/>
    <p:sldId id="384" r:id="rId6"/>
    <p:sldId id="418" r:id="rId7"/>
    <p:sldId id="419" r:id="rId8"/>
    <p:sldId id="420" r:id="rId9"/>
    <p:sldId id="421" r:id="rId10"/>
    <p:sldId id="395" r:id="rId11"/>
    <p:sldId id="374" r:id="rId12"/>
    <p:sldId id="383" r:id="rId13"/>
    <p:sldId id="378" r:id="rId14"/>
    <p:sldId id="379" r:id="rId15"/>
    <p:sldId id="281" r:id="rId16"/>
    <p:sldId id="380" r:id="rId17"/>
    <p:sldId id="404" r:id="rId18"/>
    <p:sldId id="405" r:id="rId19"/>
    <p:sldId id="406" r:id="rId20"/>
    <p:sldId id="407" r:id="rId21"/>
    <p:sldId id="370" r:id="rId22"/>
    <p:sldId id="408" r:id="rId23"/>
    <p:sldId id="411" r:id="rId24"/>
    <p:sldId id="414" r:id="rId25"/>
    <p:sldId id="412" r:id="rId26"/>
    <p:sldId id="413" r:id="rId27"/>
    <p:sldId id="415" r:id="rId28"/>
    <p:sldId id="409" r:id="rId29"/>
    <p:sldId id="410" r:id="rId30"/>
    <p:sldId id="288" r:id="rId31"/>
    <p:sldId id="336" r:id="rId32"/>
    <p:sldId id="366" r:id="rId33"/>
    <p:sldId id="342" r:id="rId34"/>
    <p:sldId id="337" r:id="rId35"/>
    <p:sldId id="310" r:id="rId36"/>
    <p:sldId id="343" r:id="rId37"/>
    <p:sldId id="416" r:id="rId38"/>
    <p:sldId id="363" r:id="rId39"/>
    <p:sldId id="368" r:id="rId40"/>
    <p:sldId id="270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CCD79455-ABE6-4103-8B1E-302BFF762636}">
          <p14:sldIdLst>
            <p14:sldId id="256"/>
          </p14:sldIdLst>
        </p14:section>
        <p14:section name="Apresentação" id="{5C2A640F-6157-420C-8B12-F875022F491A}">
          <p14:sldIdLst>
            <p14:sldId id="274"/>
            <p14:sldId id="417"/>
            <p14:sldId id="384"/>
            <p14:sldId id="418"/>
            <p14:sldId id="419"/>
            <p14:sldId id="420"/>
            <p14:sldId id="421"/>
            <p14:sldId id="395"/>
            <p14:sldId id="374"/>
            <p14:sldId id="383"/>
            <p14:sldId id="378"/>
            <p14:sldId id="379"/>
            <p14:sldId id="281"/>
            <p14:sldId id="380"/>
            <p14:sldId id="404"/>
            <p14:sldId id="405"/>
            <p14:sldId id="406"/>
            <p14:sldId id="407"/>
            <p14:sldId id="370"/>
            <p14:sldId id="408"/>
            <p14:sldId id="411"/>
            <p14:sldId id="414"/>
            <p14:sldId id="412"/>
            <p14:sldId id="413"/>
            <p14:sldId id="415"/>
            <p14:sldId id="409"/>
            <p14:sldId id="410"/>
            <p14:sldId id="288"/>
            <p14:sldId id="336"/>
            <p14:sldId id="366"/>
            <p14:sldId id="342"/>
            <p14:sldId id="337"/>
            <p14:sldId id="310"/>
            <p14:sldId id="343"/>
            <p14:sldId id="416"/>
            <p14:sldId id="363"/>
            <p14:sldId id="368"/>
          </p14:sldIdLst>
        </p14:section>
        <p14:section name="Seção sem Título" id="{6F930604-ABBD-45DD-B31E-4D59BB76FF5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FA6DC"/>
    <a:srgbClr val="8997B8"/>
    <a:srgbClr val="6578A2"/>
    <a:srgbClr val="048E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81" autoAdjust="0"/>
    <p:restoredTop sz="72156" autoAdjust="0"/>
  </p:normalViewPr>
  <p:slideViewPr>
    <p:cSldViewPr snapToGrid="0">
      <p:cViewPr varScale="1">
        <p:scale>
          <a:sx n="69" d="100"/>
          <a:sy n="69" d="100"/>
        </p:scale>
        <p:origin x="924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4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74C05-1F12-44F0-8E5B-E37F4101CBEC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888F4-D8E5-45A5-8021-A51824297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025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D4CBB7-5105-469F-AE51-311008C4419E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FFAE0-0B61-4B0A-A53A-24A2B28200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19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FFAE0-0B61-4B0A-A53A-24A2B282005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438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FFAE0-0B61-4B0A-A53A-24A2B282005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688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F669D-E3D7-6A13-6343-6C272D1C4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F413D1-66CF-2FB9-AC34-75A9AC570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1F363D-BC45-EB2D-4CA8-86D2423AD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653F3E-1ED6-8A2E-0095-43AC17356C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FFAE0-0B61-4B0A-A53A-24A2B282005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759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BF61-D565-37E6-6ACF-5F44E52A6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66B4ECE-B81B-FEB7-DED2-26DB482B9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199E412-D206-8484-06FB-6ACC5BE2C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E99FCA-1A6F-791D-7B11-1A8A72B24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FFAE0-0B61-4B0A-A53A-24A2B282005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3700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23176-BBBE-B72E-FDE1-01CE5F98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61D95FA-87C8-FA08-7A51-CFCB3804C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6D24FD-44C5-27CD-04A2-87B3810F6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E22660-1024-E53F-62A6-BE34AB3E3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FFAE0-0B61-4B0A-A53A-24A2B282005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225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FFAE0-0B61-4B0A-A53A-24A2B282005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67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864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87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361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9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460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32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7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88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308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75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18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00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273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49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70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1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282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1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02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39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28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991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81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3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827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475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601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</p:sldLayoutIdLst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0F32D-3ED7-4764-AC92-221904980814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B5CB0-4796-441D-91DF-38BB6715DC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04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36.jpg"/><Relationship Id="rId7" Type="http://schemas.openxmlformats.org/officeDocument/2006/relationships/image" Target="../media/image40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9.jpeg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4.jpg"/><Relationship Id="rId4" Type="http://schemas.openxmlformats.org/officeDocument/2006/relationships/image" Target="../media/image4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9.jpeg"/><Relationship Id="rId4" Type="http://schemas.openxmlformats.org/officeDocument/2006/relationships/image" Target="../media/image4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0.jpeg"/><Relationship Id="rId4" Type="http://schemas.openxmlformats.org/officeDocument/2006/relationships/image" Target="../media/image53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Texto&#10;&#10;Descrição gerada automaticamente com confiança média">
            <a:extLst>
              <a:ext uri="{FF2B5EF4-FFF2-40B4-BE49-F238E27FC236}">
                <a16:creationId xmlns:a16="http://schemas.microsoft.com/office/drawing/2014/main" id="{4448E7CA-19B4-FDEA-74D3-03ACFE5DA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834789" y="443212"/>
            <a:ext cx="2722759" cy="695709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085037" y="1727208"/>
            <a:ext cx="7733168" cy="27482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000" b="1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FISIOTERAPIA APLICADA AO PACIENTE COM DESNUTRIÇÃO GRAVE</a:t>
            </a:r>
          </a:p>
        </p:txBody>
      </p:sp>
      <p:sp>
        <p:nvSpPr>
          <p:cNvPr id="10" name="Retângulo 9"/>
          <p:cNvSpPr/>
          <p:nvPr/>
        </p:nvSpPr>
        <p:spPr>
          <a:xfrm>
            <a:off x="284460" y="5063748"/>
            <a:ext cx="8090875" cy="155427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Prof.º Bruno Garcia de Aquino</a:t>
            </a:r>
          </a:p>
          <a:p>
            <a:r>
              <a:rPr lang="pt-BR" sz="1500" dirty="0"/>
              <a:t>Professor – Curso de Fisioterapia (CCBS) – Universidade Presbiteriana Mackenzie</a:t>
            </a:r>
          </a:p>
          <a:p>
            <a:endParaRPr lang="pt-BR" sz="1500" dirty="0"/>
          </a:p>
          <a:p>
            <a:r>
              <a:rPr lang="pt-BR" sz="2000" b="1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Gabriel Henrique Rodrigues Da Silva</a:t>
            </a:r>
          </a:p>
          <a:p>
            <a:r>
              <a:rPr lang="pt-BR" sz="1500" dirty="0"/>
              <a:t>Aluno - 5° Semestre – Curso de Fisioterapia (CCBS) – Universidade Presbiteriana Mackenzie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5D2FD20-9193-69C8-FB1B-9B2A93E61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912" y="66147"/>
            <a:ext cx="1728192" cy="1311912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BB4A9CEB-DDDA-C0E6-6A98-41875D637F1F}"/>
              </a:ext>
            </a:extLst>
          </p:cNvPr>
          <p:cNvSpPr txBox="1"/>
          <p:nvPr/>
        </p:nvSpPr>
        <p:spPr>
          <a:xfrm>
            <a:off x="4017136" y="547565"/>
            <a:ext cx="9344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Brasil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A155416-C83D-46F0-FD82-EBC1204470A8}"/>
              </a:ext>
            </a:extLst>
          </p:cNvPr>
          <p:cNvSpPr txBox="1"/>
          <p:nvPr/>
        </p:nvSpPr>
        <p:spPr>
          <a:xfrm>
            <a:off x="5707541" y="547565"/>
            <a:ext cx="1512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Angola</a:t>
            </a:r>
          </a:p>
        </p:txBody>
      </p:sp>
      <p:pic>
        <p:nvPicPr>
          <p:cNvPr id="14" name="Picture 2" descr="Brasil: dados, mapa, bandeira, economia - Brasil Escola">
            <a:extLst>
              <a:ext uri="{FF2B5EF4-FFF2-40B4-BE49-F238E27FC236}">
                <a16:creationId xmlns:a16="http://schemas.microsoft.com/office/drawing/2014/main" id="{A49A08E5-1DEC-DD11-F8A6-F00C8693D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972" y="547565"/>
            <a:ext cx="600165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Angola – Wikipédia, a enciclopédia livre">
            <a:extLst>
              <a:ext uri="{FF2B5EF4-FFF2-40B4-BE49-F238E27FC236}">
                <a16:creationId xmlns:a16="http://schemas.microsoft.com/office/drawing/2014/main" id="{A827FE75-DC64-A29C-E30D-36F186B1B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747" y="547565"/>
            <a:ext cx="600165" cy="40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88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6FABB95-8BFC-AFBC-B28F-1ED005BCD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62" y="971364"/>
            <a:ext cx="10969675" cy="5429436"/>
          </a:xfrm>
          <a:prstGeom prst="rect">
            <a:avLst/>
          </a:prstGeom>
        </p:spPr>
      </p:pic>
      <p:pic>
        <p:nvPicPr>
          <p:cNvPr id="3" name="Imagem 2" descr="Texto&#10;&#10;Descrição gerada automaticamente com confiança média">
            <a:extLst>
              <a:ext uri="{FF2B5EF4-FFF2-40B4-BE49-F238E27FC236}">
                <a16:creationId xmlns:a16="http://schemas.microsoft.com/office/drawing/2014/main" id="{5F3636AF-66CA-FFBD-481B-A157DA5213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318655" y="346998"/>
            <a:ext cx="2443550" cy="62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0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F5F42-6C2C-C2AF-6E92-BFE85C6D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2CFE6FFE-41C4-2B61-8E2D-EA967998CC7B}"/>
              </a:ext>
            </a:extLst>
          </p:cNvPr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C8C1C3F2-C734-EE7A-B2E9-EBE52208E008}"/>
              </a:ext>
            </a:extLst>
          </p:cNvPr>
          <p:cNvSpPr/>
          <p:nvPr/>
        </p:nvSpPr>
        <p:spPr>
          <a:xfrm>
            <a:off x="5015346" y="289209"/>
            <a:ext cx="699371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Desnutrição grave  e atividade física</a:t>
            </a:r>
          </a:p>
        </p:txBody>
      </p:sp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8CDCD1EC-B5F4-9D1B-A9B6-131B9968DC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3F78329-0C9A-5D47-633D-E3DCD6130C7E}"/>
              </a:ext>
            </a:extLst>
          </p:cNvPr>
          <p:cNvSpPr txBox="1"/>
          <p:nvPr/>
        </p:nvSpPr>
        <p:spPr>
          <a:xfrm>
            <a:off x="254969" y="1612009"/>
            <a:ext cx="1193703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A desnutrição grave compromete diretamente a estrutura e a função muscular: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/>
              <a:t>Reduz a </a:t>
            </a:r>
            <a:r>
              <a:rPr lang="pt-BR" sz="2800" b="1" dirty="0"/>
              <a:t>força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/>
              <a:t>Reduz </a:t>
            </a:r>
            <a:r>
              <a:rPr lang="pt-BR" sz="2800" b="1" dirty="0"/>
              <a:t>resistência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/>
              <a:t>Reduz </a:t>
            </a:r>
            <a:r>
              <a:rPr lang="pt-BR" sz="2800" b="1" dirty="0"/>
              <a:t>capacidade de realizar atividades diárias</a:t>
            </a:r>
            <a:r>
              <a:rPr lang="pt-BR" sz="2800" dirty="0"/>
              <a:t>.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2800" dirty="0"/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2800" dirty="0"/>
          </a:p>
          <a:p>
            <a:pPr algn="just"/>
            <a:r>
              <a:rPr lang="pt-BR" sz="2800" dirty="0"/>
              <a:t>A atividade física desempenha um papel importante na recuperação funcional: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/>
              <a:t>Preserva a </a:t>
            </a:r>
            <a:r>
              <a:rPr lang="pt-BR" sz="2800" b="1" dirty="0"/>
              <a:t>massa muscular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/>
              <a:t>Melhora a </a:t>
            </a:r>
            <a:r>
              <a:rPr lang="pt-BR" sz="2800" b="1" dirty="0"/>
              <a:t>circulação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/>
              <a:t>Promove maior </a:t>
            </a:r>
            <a:r>
              <a:rPr lang="pt-BR" sz="2800" b="1" dirty="0"/>
              <a:t>independência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/>
              <a:t>Promove </a:t>
            </a:r>
            <a:r>
              <a:rPr lang="pt-BR" sz="2800" b="1" dirty="0"/>
              <a:t>qualidade de vida </a:t>
            </a:r>
            <a:r>
              <a:rPr lang="pt-BR" sz="2800" dirty="0"/>
              <a:t>durante o processo de reabilitação.</a:t>
            </a:r>
          </a:p>
        </p:txBody>
      </p:sp>
    </p:spTree>
    <p:extLst>
      <p:ext uri="{BB962C8B-B14F-4D97-AF65-F5344CB8AC3E}">
        <p14:creationId xmlns:p14="http://schemas.microsoft.com/office/powerpoint/2010/main" val="324359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/>
          <p:cNvSpPr/>
          <p:nvPr/>
        </p:nvSpPr>
        <p:spPr>
          <a:xfrm>
            <a:off x="5611092" y="289209"/>
            <a:ext cx="639796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Fatores associados à desnutrição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18401" y="1621534"/>
            <a:ext cx="5013007" cy="68291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pt-BR" sz="2800" b="1" dirty="0">
                <a:solidFill>
                  <a:schemeClr val="tx1"/>
                </a:solidFill>
                <a:latin typeface="+mn-lt"/>
              </a:rPr>
              <a:t>Fatores associados à desnutrição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918401" y="2420111"/>
            <a:ext cx="7268527" cy="3846576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Idade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Má alimentação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Patologias (Câncer, Doenças agudas e crônicas)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Infecções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Baixa renda familiar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Locais em conflito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Hospitalizações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alt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19" y="1373985"/>
            <a:ext cx="2251822" cy="2251822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0214743" y="6384125"/>
            <a:ext cx="1794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b="1" i="1" dirty="0"/>
              <a:t>Waitzberg, 2001</a:t>
            </a:r>
            <a:endParaRPr lang="pt-BR" b="1" i="1" dirty="0"/>
          </a:p>
        </p:txBody>
      </p:sp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CFB7B475-F2BA-0583-9AF1-A1B292ECE37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7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344F0-58D4-A293-9F53-43AB8662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BFA74199-1B9A-98D3-22F4-4FC4451EBD17}"/>
              </a:ext>
            </a:extLst>
          </p:cNvPr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311EFCFA-9267-CF07-AFC4-A695F292103A}"/>
              </a:ext>
            </a:extLst>
          </p:cNvPr>
          <p:cNvSpPr/>
          <p:nvPr/>
        </p:nvSpPr>
        <p:spPr>
          <a:xfrm>
            <a:off x="5209941" y="289209"/>
            <a:ext cx="67991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Impactos associados à desnutrição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2D0072A-4F63-2E88-39DB-4AD82803C8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19" y="1373985"/>
            <a:ext cx="2251822" cy="2251822"/>
          </a:xfrm>
          <a:prstGeom prst="rect">
            <a:avLst/>
          </a:prstGeom>
        </p:spPr>
      </p:pic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1C605BC5-3E3A-A42F-9C6D-FD11B561660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344A17-44EC-90B6-6681-CB8C2F1CDFEA}"/>
              </a:ext>
            </a:extLst>
          </p:cNvPr>
          <p:cNvSpPr txBox="1"/>
          <p:nvPr/>
        </p:nvSpPr>
        <p:spPr>
          <a:xfrm>
            <a:off x="1206762" y="2181529"/>
            <a:ext cx="6799119" cy="3472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/>
              <a:t>Impactos da desnutrição grave no corpo:</a:t>
            </a:r>
          </a:p>
          <a:p>
            <a:pPr>
              <a:buNone/>
            </a:pPr>
            <a:endParaRPr lang="pt-BR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Redução da massa muscular (sarcopenia)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Perda de força e resistência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Diminuição da capacidade funcional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Fadiga precoce</a:t>
            </a:r>
          </a:p>
        </p:txBody>
      </p:sp>
    </p:spTree>
    <p:extLst>
      <p:ext uri="{BB962C8B-B14F-4D97-AF65-F5344CB8AC3E}">
        <p14:creationId xmlns:p14="http://schemas.microsoft.com/office/powerpoint/2010/main" val="363905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8A70-0B15-E8AE-1B27-D9F04EEE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541FA82B-8C2A-E3F1-531C-0704EE9497F5}"/>
              </a:ext>
            </a:extLst>
          </p:cNvPr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AEB15CB2-FE97-5FB1-C03A-46C42EF703AF}"/>
              </a:ext>
            </a:extLst>
          </p:cNvPr>
          <p:cNvSpPr/>
          <p:nvPr/>
        </p:nvSpPr>
        <p:spPr>
          <a:xfrm>
            <a:off x="2909455" y="289209"/>
            <a:ext cx="909960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Consequências físicas associadas à desnutrição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213DD84-70CD-4C9F-504D-F6C53E4F27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19" y="1373985"/>
            <a:ext cx="2251822" cy="2251822"/>
          </a:xfrm>
          <a:prstGeom prst="rect">
            <a:avLst/>
          </a:prstGeom>
        </p:spPr>
      </p:pic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21F44C2E-89A0-BABB-10B4-05FD93FD06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B71B8E8-8E32-F314-9073-EDA1E709E239}"/>
              </a:ext>
            </a:extLst>
          </p:cNvPr>
          <p:cNvSpPr txBox="1"/>
          <p:nvPr/>
        </p:nvSpPr>
        <p:spPr>
          <a:xfrm>
            <a:off x="1206762" y="2499896"/>
            <a:ext cx="7370618" cy="28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/>
              <a:t>Consequências no desempenho físico:</a:t>
            </a:r>
          </a:p>
          <a:p>
            <a:pPr>
              <a:buNone/>
            </a:pPr>
            <a:endParaRPr lang="pt-BR" sz="2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Baixo rendimento em atividades do dia a dia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Dificuldade de reabilitação motora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Maior risco de quedas e lesões</a:t>
            </a:r>
          </a:p>
        </p:txBody>
      </p:sp>
    </p:spTree>
    <p:extLst>
      <p:ext uri="{BB962C8B-B14F-4D97-AF65-F5344CB8AC3E}">
        <p14:creationId xmlns:p14="http://schemas.microsoft.com/office/powerpoint/2010/main" val="205479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52D53-FE9F-8CB2-10F8-DBF9D2FD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F0CD7A8-A542-E15C-040A-F66C9BB5B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" t="2953" r="1374" b="10562"/>
          <a:stretch/>
        </p:blipFill>
        <p:spPr bwMode="auto">
          <a:xfrm>
            <a:off x="2640052" y="2184527"/>
            <a:ext cx="7826296" cy="4619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9E054B5F-0FAF-3F58-F8AE-6587C4C4007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6B2495-84FD-788E-786E-2A56EBD98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131" y="53679"/>
            <a:ext cx="6017738" cy="2130848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299B08C-AB1F-3A61-4EA4-1793C43D3685}"/>
              </a:ext>
            </a:extLst>
          </p:cNvPr>
          <p:cNvSpPr/>
          <p:nvPr/>
        </p:nvSpPr>
        <p:spPr>
          <a:xfrm>
            <a:off x="306215" y="3703336"/>
            <a:ext cx="2133600" cy="879764"/>
          </a:xfrm>
          <a:prstGeom prst="roundRect">
            <a:avLst/>
          </a:prstGeom>
          <a:noFill/>
          <a:ln w="158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ACF63C5-7436-0CCA-22BD-EACE031B2709}"/>
              </a:ext>
            </a:extLst>
          </p:cNvPr>
          <p:cNvSpPr txBox="1"/>
          <p:nvPr/>
        </p:nvSpPr>
        <p:spPr>
          <a:xfrm>
            <a:off x="406334" y="3958552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ENVELHECIMENTO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E9BF037-6E24-CB6E-32CB-9877DEB3EC84}"/>
              </a:ext>
            </a:extLst>
          </p:cNvPr>
          <p:cNvSpPr/>
          <p:nvPr/>
        </p:nvSpPr>
        <p:spPr>
          <a:xfrm>
            <a:off x="4146756" y="4977955"/>
            <a:ext cx="1921533" cy="1145756"/>
          </a:xfrm>
          <a:prstGeom prst="round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308DCB1-67A2-0D23-91DE-8B7D2D7C4601}"/>
              </a:ext>
            </a:extLst>
          </p:cNvPr>
          <p:cNvSpPr/>
          <p:nvPr/>
        </p:nvSpPr>
        <p:spPr>
          <a:xfrm>
            <a:off x="8742218" y="1929311"/>
            <a:ext cx="2036618" cy="1774025"/>
          </a:xfrm>
          <a:prstGeom prst="ellipse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44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22A39-9A81-1F9D-9ED6-E0992C0A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EB6D64CC-3915-EFC6-1CD7-A432771036CA}"/>
              </a:ext>
            </a:extLst>
          </p:cNvPr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70AD249F-6639-85D2-B20F-274CCF905351}"/>
              </a:ext>
            </a:extLst>
          </p:cNvPr>
          <p:cNvSpPr/>
          <p:nvPr/>
        </p:nvSpPr>
        <p:spPr>
          <a:xfrm>
            <a:off x="6888480" y="240441"/>
            <a:ext cx="512057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Fisioterapia x Desnutrição</a:t>
            </a:r>
          </a:p>
        </p:txBody>
      </p:sp>
      <p:pic>
        <p:nvPicPr>
          <p:cNvPr id="4" name="Imagem 3" descr="Texto&#10;&#10;Descrição gerada automaticamente com confiança média">
            <a:extLst>
              <a:ext uri="{FF2B5EF4-FFF2-40B4-BE49-F238E27FC236}">
                <a16:creationId xmlns:a16="http://schemas.microsoft.com/office/drawing/2014/main" id="{4A10BF7C-572C-924A-B52D-D03D6BD581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CF0FC20-3B5F-CE7A-15E9-A9B13A390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880" y="1879538"/>
            <a:ext cx="6737120" cy="473802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E816FF3-D3E9-8353-1850-30C40E596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4" y="1062487"/>
            <a:ext cx="6098417" cy="215941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2C25283-87AD-DCDD-54C4-CB1A9A52BF57}"/>
              </a:ext>
            </a:extLst>
          </p:cNvPr>
          <p:cNvSpPr txBox="1"/>
          <p:nvPr/>
        </p:nvSpPr>
        <p:spPr>
          <a:xfrm>
            <a:off x="401781" y="3912755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2200" dirty="0"/>
              <a:t>Proteína e energia dietéticas inadequadas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DA4B789-B0C5-436C-F8A1-5B008A488054}"/>
              </a:ext>
            </a:extLst>
          </p:cNvPr>
          <p:cNvSpPr txBox="1"/>
          <p:nvPr/>
        </p:nvSpPr>
        <p:spPr>
          <a:xfrm>
            <a:off x="401781" y="4326268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pt-BR" sz="2200" dirty="0"/>
              <a:t>Massa muscular reduzida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AE6B1F-AF82-9C69-D78A-91228FE3251A}"/>
              </a:ext>
            </a:extLst>
          </p:cNvPr>
          <p:cNvSpPr txBox="1"/>
          <p:nvPr/>
        </p:nvSpPr>
        <p:spPr>
          <a:xfrm>
            <a:off x="401781" y="4739781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pt-BR" sz="2200" dirty="0"/>
              <a:t>Perda de força nos músculos orais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EB8A60C-B842-F214-1E39-1E6BDD0BA57F}"/>
              </a:ext>
            </a:extLst>
          </p:cNvPr>
          <p:cNvSpPr txBox="1"/>
          <p:nvPr/>
        </p:nvSpPr>
        <p:spPr>
          <a:xfrm>
            <a:off x="401781" y="515329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pt-BR" sz="2200" dirty="0"/>
              <a:t>Problemas de saúde bucal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4BD51FE-D41D-4AA5-2E09-DAB8E9648BC1}"/>
              </a:ext>
            </a:extLst>
          </p:cNvPr>
          <p:cNvSpPr txBox="1"/>
          <p:nvPr/>
        </p:nvSpPr>
        <p:spPr>
          <a:xfrm>
            <a:off x="401781" y="5566807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pt-BR" sz="2200" dirty="0"/>
              <a:t>Redução da ingestão de alimentos</a:t>
            </a:r>
          </a:p>
        </p:txBody>
      </p:sp>
    </p:spTree>
    <p:extLst>
      <p:ext uri="{BB962C8B-B14F-4D97-AF65-F5344CB8AC3E}">
        <p14:creationId xmlns:p14="http://schemas.microsoft.com/office/powerpoint/2010/main" val="4081113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-526472" y="1492406"/>
            <a:ext cx="13244944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000" b="1" dirty="0">
                <a:ln w="0"/>
              </a:rPr>
              <a:t>HOSPITALIZAÇÃO</a:t>
            </a:r>
          </a:p>
          <a:p>
            <a:pPr algn="ctr"/>
            <a:r>
              <a:rPr lang="pt-BR" sz="3000" dirty="0">
                <a:ln w="0"/>
              </a:rPr>
              <a:t>Paciente com desnutrição grave hospitalizado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9" y="3706367"/>
            <a:ext cx="1722615" cy="172261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952" y="3844558"/>
            <a:ext cx="1392400" cy="13924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328" y="3811750"/>
            <a:ext cx="1425208" cy="1425208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970" y="3844558"/>
            <a:ext cx="1422254" cy="1422254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658" y="3811656"/>
            <a:ext cx="1617326" cy="161732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419" y="3795791"/>
            <a:ext cx="1694688" cy="1694688"/>
          </a:xfrm>
          <a:prstGeom prst="rect">
            <a:avLst/>
          </a:prstGeom>
        </p:spPr>
      </p:pic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1B801FF9-1BC4-0EFA-D15A-75B801B2DC0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76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/>
          <p:cNvSpPr/>
          <p:nvPr/>
        </p:nvSpPr>
        <p:spPr>
          <a:xfrm>
            <a:off x="6352032" y="289209"/>
            <a:ext cx="565702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Hospitalização x Desnutrição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55320" y="1550155"/>
            <a:ext cx="1020775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800" dirty="0"/>
              <a:t>O estado da má nutrição está associado à perda de massa muscular</a:t>
            </a:r>
          </a:p>
          <a:p>
            <a:pPr algn="just">
              <a:lnSpc>
                <a:spcPct val="150000"/>
              </a:lnSpc>
            </a:pPr>
            <a:r>
              <a:rPr lang="pt-BR" sz="2800" dirty="0"/>
              <a:t>Prognóstico ruim para pacientes hospitalizados</a:t>
            </a:r>
          </a:p>
          <a:p>
            <a:pPr algn="just">
              <a:lnSpc>
                <a:spcPct val="150000"/>
              </a:lnSpc>
            </a:pPr>
            <a:endParaRPr lang="pt-BR" sz="2800" dirty="0"/>
          </a:p>
          <a:p>
            <a:pPr algn="just">
              <a:lnSpc>
                <a:spcPct val="150000"/>
              </a:lnSpc>
            </a:pPr>
            <a:r>
              <a:rPr lang="pt-BR" sz="2800" dirty="0"/>
              <a:t>Pacientes têm dificuldades: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Absorção de gorduras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Aumento de demandas energéticas (infecções e inflamações)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Redução na ingestão de alimentos (agudização de doenças)</a:t>
            </a:r>
          </a:p>
          <a:p>
            <a:pPr algn="just">
              <a:lnSpc>
                <a:spcPct val="150000"/>
              </a:lnSpc>
            </a:pPr>
            <a:endParaRPr lang="pt-BR" sz="2800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735" y="2145727"/>
            <a:ext cx="1077186" cy="107718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777" y="1511065"/>
            <a:ext cx="928623" cy="928623"/>
          </a:xfrm>
          <a:prstGeom prst="rect">
            <a:avLst/>
          </a:prstGeom>
        </p:spPr>
      </p:pic>
      <p:sp>
        <p:nvSpPr>
          <p:cNvPr id="12" name="Retângulo 11"/>
          <p:cNvSpPr/>
          <p:nvPr/>
        </p:nvSpPr>
        <p:spPr>
          <a:xfrm>
            <a:off x="10438190" y="6253639"/>
            <a:ext cx="1570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b="1" i="1" dirty="0"/>
              <a:t>Schleder, 2013</a:t>
            </a:r>
          </a:p>
        </p:txBody>
      </p:sp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E8AC27D0-0950-81CE-6BF2-D1F9C6FB6FB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7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029" y="1001527"/>
            <a:ext cx="4673428" cy="5856473"/>
          </a:xfrm>
          <a:prstGeom prst="rect">
            <a:avLst/>
          </a:prstGeom>
        </p:spPr>
      </p:pic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/>
          <p:cNvSpPr/>
          <p:nvPr/>
        </p:nvSpPr>
        <p:spPr>
          <a:xfrm>
            <a:off x="6352032" y="289209"/>
            <a:ext cx="565702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Hospitalização x Desnutrição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10582" y="2624341"/>
            <a:ext cx="7686779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Jejum prolongado – Muito tempo sem comer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Inapetência – Falta de apetite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Perda de olfato e paladar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800" dirty="0"/>
              <a:t>Pós-operatório difícil</a:t>
            </a:r>
          </a:p>
        </p:txBody>
      </p:sp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8CD91C68-EF5D-D407-07F4-A7CD619B4E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8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/>
          <p:cNvSpPr/>
          <p:nvPr/>
        </p:nvSpPr>
        <p:spPr>
          <a:xfrm>
            <a:off x="6352032" y="289209"/>
            <a:ext cx="565702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Hospitalização x Desnutrição</a:t>
            </a:r>
          </a:p>
        </p:txBody>
      </p:sp>
      <p:sp>
        <p:nvSpPr>
          <p:cNvPr id="6" name="Espace réservé du contenu 2"/>
          <p:cNvSpPr>
            <a:spLocks/>
          </p:cNvSpPr>
          <p:nvPr/>
        </p:nvSpPr>
        <p:spPr bwMode="auto">
          <a:xfrm>
            <a:off x="2034318" y="1724541"/>
            <a:ext cx="6585426" cy="320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50000"/>
              </a:lnSpc>
              <a:defRPr/>
            </a:pPr>
            <a:r>
              <a:rPr lang="pt-BR" sz="2800" b="1" dirty="0">
                <a:cs typeface="Arial" charset="0"/>
              </a:rPr>
              <a:t>       Impacto da hospitalização</a:t>
            </a:r>
            <a:r>
              <a:rPr lang="pt-BR" sz="2800" dirty="0">
                <a:cs typeface="Arial" charset="0"/>
              </a:rPr>
              <a:t>:</a:t>
            </a:r>
          </a:p>
          <a:p>
            <a:pPr marL="1195388" indent="-571500">
              <a:lnSpc>
                <a:spcPct val="140000"/>
              </a:lnSpc>
              <a:buSzPct val="85000"/>
              <a:buFont typeface="Wingdings" panose="05000000000000000000" pitchFamily="2" charset="2"/>
              <a:buChar char="§"/>
              <a:defRPr/>
            </a:pPr>
            <a:r>
              <a:rPr lang="pt-BR" sz="2800" dirty="0">
                <a:cs typeface="Arial" charset="0"/>
              </a:rPr>
              <a:t>Fraqueza muscular generalizada</a:t>
            </a:r>
          </a:p>
          <a:p>
            <a:pPr marL="1195388" indent="-571500">
              <a:lnSpc>
                <a:spcPct val="140000"/>
              </a:lnSpc>
              <a:buSzPct val="85000"/>
              <a:buFont typeface="Wingdings" panose="05000000000000000000" pitchFamily="2" charset="2"/>
              <a:buChar char="§"/>
              <a:defRPr/>
            </a:pPr>
            <a:r>
              <a:rPr lang="pt-BR" sz="2800" dirty="0">
                <a:cs typeface="Arial" charset="0"/>
              </a:rPr>
              <a:t>Perda de funcionalidade</a:t>
            </a:r>
          </a:p>
          <a:p>
            <a:pPr marL="1195388" indent="-571500">
              <a:lnSpc>
                <a:spcPct val="140000"/>
              </a:lnSpc>
              <a:buSzPct val="85000"/>
              <a:buFont typeface="Wingdings" panose="05000000000000000000" pitchFamily="2" charset="2"/>
              <a:buChar char="§"/>
              <a:defRPr/>
            </a:pPr>
            <a:r>
              <a:rPr lang="pt-BR" sz="2800" dirty="0">
                <a:cs typeface="Arial" charset="0"/>
              </a:rPr>
              <a:t>Alta incidência de complicações </a:t>
            </a:r>
          </a:p>
          <a:p>
            <a:pPr marL="1195388" indent="-571500">
              <a:lnSpc>
                <a:spcPct val="140000"/>
              </a:lnSpc>
              <a:buSzPct val="85000"/>
              <a:buFont typeface="Wingdings" panose="05000000000000000000" pitchFamily="2" charset="2"/>
              <a:buChar char="§"/>
              <a:defRPr/>
            </a:pPr>
            <a:r>
              <a:rPr lang="pt-BR" sz="2800" dirty="0">
                <a:cs typeface="Arial" charset="0"/>
              </a:rPr>
              <a:t>Maior tempo de VMI</a:t>
            </a:r>
          </a:p>
          <a:p>
            <a:pPr marL="1195388" indent="-571500">
              <a:lnSpc>
                <a:spcPct val="140000"/>
              </a:lnSpc>
              <a:buSzPct val="85000"/>
              <a:buFont typeface="Wingdings" panose="05000000000000000000" pitchFamily="2" charset="2"/>
              <a:buChar char="§"/>
              <a:defRPr/>
            </a:pPr>
            <a:r>
              <a:rPr lang="pt-BR" sz="2800" dirty="0">
                <a:cs typeface="Arial" charset="0"/>
              </a:rPr>
              <a:t>Aumento do tempo de internação </a:t>
            </a:r>
          </a:p>
          <a:p>
            <a:pPr marL="1195388" indent="-571500">
              <a:lnSpc>
                <a:spcPct val="140000"/>
              </a:lnSpc>
              <a:buSzPct val="85000"/>
              <a:buFont typeface="Wingdings" panose="05000000000000000000" pitchFamily="2" charset="2"/>
              <a:buChar char="§"/>
              <a:defRPr/>
            </a:pPr>
            <a:r>
              <a:rPr lang="pt-BR" sz="2800" dirty="0">
                <a:cs typeface="Arial" charset="0"/>
              </a:rPr>
              <a:t>Altos custos hospitalares  </a:t>
            </a:r>
          </a:p>
          <a:p>
            <a:pPr marL="1081088" lvl="1" indent="355600" algn="just" eaLnBrk="1" hangingPunct="1">
              <a:lnSpc>
                <a:spcPct val="120000"/>
              </a:lnSpc>
              <a:buFont typeface="Arial" pitchFamily="34" charset="0"/>
              <a:buChar char="•"/>
              <a:defRPr/>
            </a:pPr>
            <a:endParaRPr lang="pt-BR" sz="1000" dirty="0">
              <a:latin typeface="Footlight MT Light" pitchFamily="18" charset="0"/>
              <a:cs typeface="Arial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143683" y="6384125"/>
            <a:ext cx="1865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>
                <a:cs typeface="Arial" charset="0"/>
              </a:rPr>
              <a:t>Humphreys, 2002</a:t>
            </a:r>
            <a:endParaRPr lang="pt-BR" i="1" dirty="0"/>
          </a:p>
        </p:txBody>
      </p:sp>
      <p:pic>
        <p:nvPicPr>
          <p:cNvPr id="3" name="Imagem 2" descr="Texto&#10;&#10;Descrição gerada automaticamente com confiança média">
            <a:extLst>
              <a:ext uri="{FF2B5EF4-FFF2-40B4-BE49-F238E27FC236}">
                <a16:creationId xmlns:a16="http://schemas.microsoft.com/office/drawing/2014/main" id="{6298098C-7BBE-D90F-6E7C-4109447BAA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4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/>
          <p:cNvSpPr/>
          <p:nvPr/>
        </p:nvSpPr>
        <p:spPr>
          <a:xfrm>
            <a:off x="6739959" y="289209"/>
            <a:ext cx="565702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Imobilismo x Desnutrição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864" y="1161288"/>
            <a:ext cx="7595616" cy="5696712"/>
          </a:xfrm>
          <a:prstGeom prst="rect">
            <a:avLst/>
          </a:prstGeom>
        </p:spPr>
      </p:pic>
      <p:sp>
        <p:nvSpPr>
          <p:cNvPr id="7" name="Retângulo de cantos arredondados 6"/>
          <p:cNvSpPr/>
          <p:nvPr/>
        </p:nvSpPr>
        <p:spPr>
          <a:xfrm>
            <a:off x="3391071" y="1670303"/>
            <a:ext cx="1193122" cy="414529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F2C0D0C6-A4F1-16F7-5B30-F7004B775E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45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/>
          <p:cNvSpPr/>
          <p:nvPr/>
        </p:nvSpPr>
        <p:spPr>
          <a:xfrm>
            <a:off x="1910925" y="1608119"/>
            <a:ext cx="833018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sz="2800" b="1" cap="none" spc="0" dirty="0">
                <a:ln w="0"/>
                <a:solidFill>
                  <a:schemeClr val="tx1"/>
                </a:solidFill>
              </a:rPr>
              <a:t>Internação na UTI </a:t>
            </a:r>
            <a:r>
              <a:rPr lang="pt-BR" sz="2800" b="1" dirty="0">
                <a:ln w="0"/>
              </a:rPr>
              <a:t>+ </a:t>
            </a:r>
            <a:r>
              <a:rPr lang="pt-BR" sz="2800" b="1" cap="none" spc="0" dirty="0">
                <a:ln w="0"/>
                <a:solidFill>
                  <a:schemeClr val="tx1"/>
                </a:solidFill>
              </a:rPr>
              <a:t>Ventilação Mecânica = Desnutrição</a:t>
            </a:r>
            <a:endParaRPr lang="pt-BR" sz="2800" b="1" dirty="0">
              <a:ln w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82973" y="2942715"/>
            <a:ext cx="4875090" cy="267765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800" dirty="0">
                <a:ln w="0"/>
              </a:rPr>
              <a:t>Sedação prolongada</a:t>
            </a:r>
          </a:p>
          <a:p>
            <a:pPr algn="ctr">
              <a:lnSpc>
                <a:spcPct val="150000"/>
              </a:lnSpc>
            </a:pPr>
            <a:r>
              <a:rPr lang="pt-BR" sz="2800" dirty="0">
                <a:ln w="0"/>
              </a:rPr>
              <a:t>Ventilação mecânica prolongada</a:t>
            </a:r>
          </a:p>
          <a:p>
            <a:pPr algn="ctr">
              <a:lnSpc>
                <a:spcPct val="150000"/>
              </a:lnSpc>
            </a:pPr>
            <a:r>
              <a:rPr lang="pt-BR" sz="2800" dirty="0">
                <a:ln w="0"/>
              </a:rPr>
              <a:t>Hipomobilidade ou imobilidade</a:t>
            </a:r>
          </a:p>
          <a:p>
            <a:pPr algn="ctr">
              <a:lnSpc>
                <a:spcPct val="150000"/>
              </a:lnSpc>
            </a:pPr>
            <a:r>
              <a:rPr lang="pt-BR" sz="2800" dirty="0">
                <a:ln w="0"/>
              </a:rPr>
              <a:t>Delirium ou confusão mental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793973" y="2942715"/>
            <a:ext cx="4914045" cy="267765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800" dirty="0">
                <a:ln w="0"/>
              </a:rPr>
              <a:t>Infecção / Sepse</a:t>
            </a:r>
          </a:p>
          <a:p>
            <a:pPr algn="ctr">
              <a:lnSpc>
                <a:spcPct val="150000"/>
              </a:lnSpc>
            </a:pPr>
            <a:r>
              <a:rPr lang="pt-BR" sz="2800" dirty="0">
                <a:ln w="0"/>
              </a:rPr>
              <a:t>Fraqueza muscular global</a:t>
            </a:r>
          </a:p>
          <a:p>
            <a:pPr algn="ctr">
              <a:lnSpc>
                <a:spcPct val="150000"/>
              </a:lnSpc>
            </a:pPr>
            <a:r>
              <a:rPr lang="pt-BR" sz="2800" dirty="0">
                <a:ln w="0"/>
              </a:rPr>
              <a:t>Piora da qualidade de vida</a:t>
            </a:r>
          </a:p>
          <a:p>
            <a:pPr algn="ctr">
              <a:lnSpc>
                <a:spcPct val="150000"/>
              </a:lnSpc>
            </a:pPr>
            <a:r>
              <a:rPr lang="pt-BR" sz="2800" dirty="0">
                <a:ln w="0"/>
              </a:rPr>
              <a:t>Perda de funcionalidade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360733" y="6154788"/>
            <a:ext cx="16483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i="1" dirty="0"/>
              <a:t>Hodgson, 2013</a:t>
            </a:r>
          </a:p>
        </p:txBody>
      </p:sp>
      <p:sp>
        <p:nvSpPr>
          <p:cNvPr id="3" name="Seta para a esquerda e para a direita 2"/>
          <p:cNvSpPr/>
          <p:nvPr/>
        </p:nvSpPr>
        <p:spPr>
          <a:xfrm>
            <a:off x="5458361" y="4036170"/>
            <a:ext cx="1235313" cy="490746"/>
          </a:xfrm>
          <a:prstGeom prst="left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0347860" y="2230583"/>
            <a:ext cx="1648326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700" b="1" dirty="0">
                <a:solidFill>
                  <a:srgbClr val="FF0000"/>
                </a:solidFill>
              </a:rPr>
              <a:t>60% em 7 dias</a:t>
            </a:r>
          </a:p>
        </p:txBody>
      </p:sp>
      <p:cxnSp>
        <p:nvCxnSpPr>
          <p:cNvPr id="15" name="Conector angulado 14"/>
          <p:cNvCxnSpPr/>
          <p:nvPr/>
        </p:nvCxnSpPr>
        <p:spPr>
          <a:xfrm flipV="1">
            <a:off x="7447548" y="2576204"/>
            <a:ext cx="3682877" cy="1661817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 descr="Texto&#10;&#10;Descrição gerada automaticamente com confiança média">
            <a:extLst>
              <a:ext uri="{FF2B5EF4-FFF2-40B4-BE49-F238E27FC236}">
                <a16:creationId xmlns:a16="http://schemas.microsoft.com/office/drawing/2014/main" id="{BD05C3A9-031B-F2CD-D17F-4DADE33097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645E981-9B9A-E1DF-3651-3D9BA765D56D}"/>
              </a:ext>
            </a:extLst>
          </p:cNvPr>
          <p:cNvSpPr/>
          <p:nvPr/>
        </p:nvSpPr>
        <p:spPr>
          <a:xfrm>
            <a:off x="8537473" y="272342"/>
            <a:ext cx="362077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UTI x Desnutrição</a:t>
            </a:r>
          </a:p>
        </p:txBody>
      </p:sp>
    </p:spTree>
    <p:extLst>
      <p:ext uri="{BB962C8B-B14F-4D97-AF65-F5344CB8AC3E}">
        <p14:creationId xmlns:p14="http://schemas.microsoft.com/office/powerpoint/2010/main" val="361806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6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6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/>
          <p:cNvSpPr/>
          <p:nvPr/>
        </p:nvSpPr>
        <p:spPr>
          <a:xfrm>
            <a:off x="7132259" y="240441"/>
            <a:ext cx="48768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Doenças x Desnutrição</a:t>
            </a:r>
          </a:p>
        </p:txBody>
      </p:sp>
      <p:sp>
        <p:nvSpPr>
          <p:cNvPr id="2" name="Retângulo 1"/>
          <p:cNvSpPr/>
          <p:nvPr/>
        </p:nvSpPr>
        <p:spPr>
          <a:xfrm>
            <a:off x="200612" y="1042506"/>
            <a:ext cx="11655552" cy="5605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b="1" dirty="0">
                <a:solidFill>
                  <a:srgbClr val="000000"/>
                </a:solidFill>
              </a:rPr>
              <a:t>DOENÇA PULMONAR OBSTRUTIVA CRÔNICA</a:t>
            </a:r>
            <a:endParaRPr lang="pt-BR" sz="2600" dirty="0">
              <a:solidFill>
                <a:srgbClr val="000000"/>
              </a:solidFill>
            </a:endParaRPr>
          </a:p>
          <a:p>
            <a:pPr algn="just"/>
            <a:endParaRPr lang="pt-BR" sz="2400" dirty="0">
              <a:solidFill>
                <a:srgbClr val="000000"/>
              </a:solidFill>
            </a:endParaRPr>
          </a:p>
          <a:p>
            <a:pPr algn="just"/>
            <a:r>
              <a:rPr lang="pt-BR" sz="2400" dirty="0">
                <a:solidFill>
                  <a:srgbClr val="000000"/>
                </a:solidFill>
              </a:rPr>
              <a:t>A </a:t>
            </a:r>
            <a:r>
              <a:rPr lang="pt-BR" sz="2400" b="1" dirty="0">
                <a:solidFill>
                  <a:srgbClr val="FF0000"/>
                </a:solidFill>
              </a:rPr>
              <a:t>Doença Pulmonar Obstrutiva Crônica</a:t>
            </a:r>
            <a:r>
              <a:rPr lang="pt-BR" sz="2400" dirty="0">
                <a:solidFill>
                  <a:srgbClr val="000000"/>
                </a:solidFill>
              </a:rPr>
              <a:t> é uma doença caracterizada por limitação do fluxo aéreo que não é totalmente reversível, geralmente associada ao tabagismo. A desnutrição na DPOC possui vários fatores, sendo os principais contribuintes: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400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</a:rPr>
              <a:t>Dificuldade na mastigação e na deglutição devido à dispneia;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</a:rPr>
              <a:t>Tosse, secreção e fadiga respiratória;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</a:rPr>
              <a:t>Uso crônico de corticosteroide sistêmico por diminuição do apetite;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</a:rPr>
              <a:t>Desmineralização óssea e perda de massa muscular;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</a:rPr>
              <a:t>Gasto energético aumentado devido ao trabalho excessivo de músculos respiratórios;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</a:rPr>
              <a:t>Hipermetabolismo causado por processos infecciosos em caso de exacerbação da doença.</a:t>
            </a:r>
          </a:p>
        </p:txBody>
      </p:sp>
      <p:sp>
        <p:nvSpPr>
          <p:cNvPr id="7" name="Retângulo 6"/>
          <p:cNvSpPr/>
          <p:nvPr/>
        </p:nvSpPr>
        <p:spPr>
          <a:xfrm>
            <a:off x="10943735" y="6520283"/>
            <a:ext cx="13313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i="1" dirty="0" err="1"/>
              <a:t>Shan</a:t>
            </a:r>
            <a:r>
              <a:rPr lang="pt-BR" b="1" i="1" dirty="0"/>
              <a:t>, 2015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18" y="3169920"/>
            <a:ext cx="1737293" cy="1737293"/>
          </a:xfrm>
          <a:prstGeom prst="rect">
            <a:avLst/>
          </a:prstGeom>
        </p:spPr>
      </p:pic>
      <p:pic>
        <p:nvPicPr>
          <p:cNvPr id="3" name="Imagem 2" descr="Texto&#10;&#10;Descrição gerada automaticamente com confiança média">
            <a:extLst>
              <a:ext uri="{FF2B5EF4-FFF2-40B4-BE49-F238E27FC236}">
                <a16:creationId xmlns:a16="http://schemas.microsoft.com/office/drawing/2014/main" id="{3F07D8EA-9258-83A5-67A2-EF482B4A39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4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256032" y="1036415"/>
            <a:ext cx="1105814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b="1" dirty="0">
                <a:solidFill>
                  <a:srgbClr val="000000"/>
                </a:solidFill>
              </a:rPr>
              <a:t>INSUFICIÊNCIA RENAL CRÔNICA</a:t>
            </a:r>
          </a:p>
          <a:p>
            <a:endParaRPr lang="pt-BR" sz="2600" b="1" dirty="0">
              <a:solidFill>
                <a:srgbClr val="000000"/>
              </a:solidFill>
            </a:endParaRPr>
          </a:p>
          <a:p>
            <a:pPr algn="just"/>
            <a:r>
              <a:rPr lang="pt-BR" sz="2600" dirty="0"/>
              <a:t>A </a:t>
            </a:r>
            <a:r>
              <a:rPr lang="pt-BR" sz="2600" b="1" dirty="0">
                <a:solidFill>
                  <a:srgbClr val="FF0000"/>
                </a:solidFill>
              </a:rPr>
              <a:t>Insuficiência Renal Crônica </a:t>
            </a:r>
            <a:r>
              <a:rPr lang="pt-BR" sz="2600" dirty="0"/>
              <a:t>(IRC) consiste em lesão renal com perda progressiva e irreversível de função. 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A fisiopatologia da desnutrição em pacientes renais é causada: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200" dirty="0"/>
              <a:t>Ingestão nutricional deficiente;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200" dirty="0"/>
              <a:t>Restrições graves na dieta;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200" dirty="0"/>
              <a:t>Distúrbios hormonais e gastrintestinais;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200" dirty="0"/>
              <a:t>Acidose metabólica;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200" dirty="0"/>
              <a:t>Medicamentos que interferem na absorção de alimentos;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200" dirty="0"/>
              <a:t>Perda de nutrientes durante o tratamento dialítico. 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A </a:t>
            </a:r>
            <a:r>
              <a:rPr lang="pt-BR" sz="2200" b="1" dirty="0"/>
              <a:t>desnutrição</a:t>
            </a:r>
            <a:r>
              <a:rPr lang="pt-BR" sz="2200" dirty="0"/>
              <a:t>, em pacientes dialíticos: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200" dirty="0"/>
              <a:t>Perda de massa muscular e piora de desempenho em atividades físicas.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200" dirty="0"/>
              <a:t>Importante preditor de morbidade e mortalidade nesta população.</a:t>
            </a:r>
            <a:endParaRPr lang="pt-BR" sz="2200" dirty="0">
              <a:solidFill>
                <a:srgbClr val="000000"/>
              </a:solidFill>
            </a:endParaRPr>
          </a:p>
          <a:p>
            <a:pPr algn="just"/>
            <a:endParaRPr lang="pt-BR" sz="2400" dirty="0">
              <a:solidFill>
                <a:srgbClr val="000000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410" y="3108960"/>
            <a:ext cx="2386766" cy="2386766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10314433" y="6366694"/>
            <a:ext cx="1738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i="1" dirty="0" err="1"/>
              <a:t>Hemayati</a:t>
            </a:r>
            <a:r>
              <a:rPr lang="pt-BR" b="1" i="1" dirty="0"/>
              <a:t>, 2015</a:t>
            </a:r>
          </a:p>
        </p:txBody>
      </p:sp>
      <p:pic>
        <p:nvPicPr>
          <p:cNvPr id="3" name="Imagem 2" descr="Texto&#10;&#10;Descrição gerada automaticamente com confiança média">
            <a:extLst>
              <a:ext uri="{FF2B5EF4-FFF2-40B4-BE49-F238E27FC236}">
                <a16:creationId xmlns:a16="http://schemas.microsoft.com/office/drawing/2014/main" id="{48633D3C-3B0E-9039-90A4-3DB1929AD7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98A3666-FEA4-BFFD-7651-B49C95A1CF3E}"/>
              </a:ext>
            </a:extLst>
          </p:cNvPr>
          <p:cNvSpPr/>
          <p:nvPr/>
        </p:nvSpPr>
        <p:spPr>
          <a:xfrm>
            <a:off x="7132259" y="240441"/>
            <a:ext cx="48768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Doenças x Desnutrição</a:t>
            </a:r>
          </a:p>
        </p:txBody>
      </p:sp>
    </p:spTree>
    <p:extLst>
      <p:ext uri="{BB962C8B-B14F-4D97-AF65-F5344CB8AC3E}">
        <p14:creationId xmlns:p14="http://schemas.microsoft.com/office/powerpoint/2010/main" val="162140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256031" y="995471"/>
            <a:ext cx="1130362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b="1" dirty="0">
                <a:solidFill>
                  <a:srgbClr val="000000"/>
                </a:solidFill>
              </a:rPr>
              <a:t>INSUFICIÊNCIA CARDÍACA</a:t>
            </a:r>
          </a:p>
          <a:p>
            <a:pPr algn="just"/>
            <a:endParaRPr lang="pt-BR" sz="2600" b="1" dirty="0">
              <a:solidFill>
                <a:srgbClr val="000000"/>
              </a:solidFill>
            </a:endParaRPr>
          </a:p>
          <a:p>
            <a:pPr algn="just"/>
            <a:r>
              <a:rPr lang="pt-BR" sz="2600" dirty="0"/>
              <a:t>A </a:t>
            </a:r>
            <a:r>
              <a:rPr lang="pt-BR" sz="2600" b="1" dirty="0">
                <a:solidFill>
                  <a:srgbClr val="FF0000"/>
                </a:solidFill>
              </a:rPr>
              <a:t>Insuficiência Cardíaca</a:t>
            </a:r>
            <a:r>
              <a:rPr lang="pt-BR" sz="2600" dirty="0"/>
              <a:t> (IC) é caracterizada pela diminuição da habilidade do ventrículo em ejetar o sangue, fazendo com que o débito cardíaco (DC) seja insuficiente para satisfazer as necessidades de oxigênio e nutrientes do organismo.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270465" y="6370408"/>
            <a:ext cx="1738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i="1" dirty="0"/>
              <a:t>Magnard, 2013</a:t>
            </a:r>
          </a:p>
        </p:txBody>
      </p:sp>
      <p:sp>
        <p:nvSpPr>
          <p:cNvPr id="3" name="Retângulo 2"/>
          <p:cNvSpPr/>
          <p:nvPr/>
        </p:nvSpPr>
        <p:spPr>
          <a:xfrm>
            <a:off x="256031" y="3261865"/>
            <a:ext cx="1130362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600" dirty="0">
                <a:solidFill>
                  <a:srgbClr val="000000"/>
                </a:solidFill>
              </a:rPr>
              <a:t>A evolução clínica da IC repercute para quadros variáveis de desnutrição:</a:t>
            </a:r>
          </a:p>
          <a:p>
            <a:pPr algn="just"/>
            <a:endParaRPr lang="pt-BR" sz="2600" dirty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Ingestão inadequada e maior perda de nutrientes;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Hipermetabolismo causado por estados inflamatórios;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Aumento de estresse oxidativo e interações medicamentosas.</a:t>
            </a:r>
          </a:p>
          <a:p>
            <a:pPr algn="just"/>
            <a:endParaRPr lang="pt-BR" sz="2600" dirty="0">
              <a:solidFill>
                <a:srgbClr val="000000"/>
              </a:solidFill>
            </a:endParaRPr>
          </a:p>
          <a:p>
            <a:pPr algn="just"/>
            <a:r>
              <a:rPr lang="pt-BR" sz="2600" dirty="0">
                <a:solidFill>
                  <a:srgbClr val="000000"/>
                </a:solidFill>
              </a:rPr>
              <a:t>Desnutrição é um importante fator preditivo de </a:t>
            </a:r>
            <a:r>
              <a:rPr lang="pt-BR" sz="2600" b="1" dirty="0">
                <a:solidFill>
                  <a:srgbClr val="000000"/>
                </a:solidFill>
              </a:rPr>
              <a:t>redução de sobrevida</a:t>
            </a:r>
            <a:r>
              <a:rPr lang="pt-BR" sz="2600" dirty="0">
                <a:solidFill>
                  <a:srgbClr val="000000"/>
                </a:solidFill>
              </a:rPr>
              <a:t>, independentemente de idade, classe funcional e fração de ejeção.</a:t>
            </a:r>
            <a:endParaRPr lang="pt-BR" sz="26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39" y="3774212"/>
            <a:ext cx="1669215" cy="1669215"/>
          </a:xfrm>
          <a:prstGeom prst="rect">
            <a:avLst/>
          </a:prstGeom>
        </p:spPr>
      </p:pic>
      <p:pic>
        <p:nvPicPr>
          <p:cNvPr id="5" name="Imagem 4" descr="Texto&#10;&#10;Descrição gerada automaticamente com confiança média">
            <a:extLst>
              <a:ext uri="{FF2B5EF4-FFF2-40B4-BE49-F238E27FC236}">
                <a16:creationId xmlns:a16="http://schemas.microsoft.com/office/drawing/2014/main" id="{21B4DC9E-AA41-0B82-99F1-2B5B059492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E50D297-CABE-78A5-586B-EDF78C3F8997}"/>
              </a:ext>
            </a:extLst>
          </p:cNvPr>
          <p:cNvSpPr/>
          <p:nvPr/>
        </p:nvSpPr>
        <p:spPr>
          <a:xfrm>
            <a:off x="7132259" y="240441"/>
            <a:ext cx="48768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Doenças x Desnutrição</a:t>
            </a:r>
          </a:p>
        </p:txBody>
      </p:sp>
    </p:spTree>
    <p:extLst>
      <p:ext uri="{BB962C8B-B14F-4D97-AF65-F5344CB8AC3E}">
        <p14:creationId xmlns:p14="http://schemas.microsoft.com/office/powerpoint/2010/main" val="189441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256031" y="1068623"/>
            <a:ext cx="11303623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b="1" dirty="0">
                <a:solidFill>
                  <a:srgbClr val="000000"/>
                </a:solidFill>
              </a:rPr>
              <a:t>IMUNODEFICIÊNCIAS</a:t>
            </a:r>
          </a:p>
          <a:p>
            <a:pPr algn="just"/>
            <a:endParaRPr lang="pt-BR" sz="2600" b="1" dirty="0">
              <a:solidFill>
                <a:srgbClr val="000000"/>
              </a:solidFill>
            </a:endParaRPr>
          </a:p>
          <a:p>
            <a:pPr algn="just"/>
            <a:r>
              <a:rPr lang="pt-BR" sz="2600" b="1" dirty="0">
                <a:solidFill>
                  <a:srgbClr val="FF0000"/>
                </a:solidFill>
              </a:rPr>
              <a:t>Síndrome da Imunodeficiência Adquirida </a:t>
            </a:r>
            <a:r>
              <a:rPr lang="pt-BR" sz="2600" dirty="0"/>
              <a:t>(AIDS), atingem o sistema imunológico e também causam importantes déficits nutricionais. </a:t>
            </a:r>
          </a:p>
          <a:p>
            <a:pPr algn="just"/>
            <a:endParaRPr lang="pt-BR" sz="2800" dirty="0"/>
          </a:p>
          <a:p>
            <a:pPr algn="just"/>
            <a:r>
              <a:rPr lang="pt-BR" sz="2600" dirty="0"/>
              <a:t>O estado nutricional do paciente com Aids adquiriu importância na prática clínica devido à desnutrição e aos efeitos colaterais da terapia antirretroviral. 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592820" y="6421663"/>
            <a:ext cx="1738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i="1" dirty="0" err="1"/>
              <a:t>Sahade</a:t>
            </a:r>
            <a:r>
              <a:rPr lang="pt-BR" b="1" i="1" dirty="0"/>
              <a:t>, 2009</a:t>
            </a:r>
          </a:p>
        </p:txBody>
      </p:sp>
      <p:sp>
        <p:nvSpPr>
          <p:cNvPr id="5" name="Retângulo 4"/>
          <p:cNvSpPr/>
          <p:nvPr/>
        </p:nvSpPr>
        <p:spPr>
          <a:xfrm>
            <a:off x="256031" y="4137352"/>
            <a:ext cx="112060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</a:rPr>
              <a:t>A perda de peso e de massa muscular são características precoces da infecção e de doenças oportunistas virais e fúngicas:</a:t>
            </a:r>
          </a:p>
          <a:p>
            <a:endParaRPr lang="pt-BR" sz="2400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</a:rPr>
              <a:t>Tuberculose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</a:rPr>
              <a:t>Pneumocistose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</a:rPr>
              <a:t>Neurocriptococose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963218" y="5099309"/>
            <a:ext cx="488817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0000"/>
                </a:solidFill>
              </a:rPr>
              <a:t>Aumento da mortalidade;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0000"/>
                </a:solidFill>
              </a:rPr>
              <a:t>Aceleração da progressão da doença;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0000"/>
                </a:solidFill>
              </a:rPr>
              <a:t>Diminuição da força muscular;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0000"/>
                </a:solidFill>
              </a:rPr>
              <a:t>Piora do estado funcional.</a:t>
            </a:r>
            <a:endParaRPr lang="pt-BR" sz="2300" dirty="0"/>
          </a:p>
        </p:txBody>
      </p:sp>
      <p:sp>
        <p:nvSpPr>
          <p:cNvPr id="9" name="Retângulo de cantos arredondados 8"/>
          <p:cNvSpPr/>
          <p:nvPr/>
        </p:nvSpPr>
        <p:spPr>
          <a:xfrm>
            <a:off x="3890066" y="5099309"/>
            <a:ext cx="5034478" cy="150810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70258">
            <a:off x="9882342" y="4686232"/>
            <a:ext cx="1682498" cy="1682498"/>
          </a:xfrm>
          <a:prstGeom prst="rect">
            <a:avLst/>
          </a:prstGeom>
        </p:spPr>
      </p:pic>
      <p:pic>
        <p:nvPicPr>
          <p:cNvPr id="3" name="Imagem 2" descr="Texto&#10;&#10;Descrição gerada automaticamente com confiança média">
            <a:extLst>
              <a:ext uri="{FF2B5EF4-FFF2-40B4-BE49-F238E27FC236}">
                <a16:creationId xmlns:a16="http://schemas.microsoft.com/office/drawing/2014/main" id="{B2EAB126-84C9-6505-3B6B-5EF4C160D7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87A0966-AE8D-DD9A-A3D7-98F84C069960}"/>
              </a:ext>
            </a:extLst>
          </p:cNvPr>
          <p:cNvSpPr/>
          <p:nvPr/>
        </p:nvSpPr>
        <p:spPr>
          <a:xfrm>
            <a:off x="7132259" y="240441"/>
            <a:ext cx="48768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Doenças x Desnutrição</a:t>
            </a:r>
          </a:p>
        </p:txBody>
      </p:sp>
    </p:spTree>
    <p:extLst>
      <p:ext uri="{BB962C8B-B14F-4D97-AF65-F5344CB8AC3E}">
        <p14:creationId xmlns:p14="http://schemas.microsoft.com/office/powerpoint/2010/main" val="49447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256031" y="1068623"/>
            <a:ext cx="1154582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b="1" dirty="0">
                <a:solidFill>
                  <a:srgbClr val="000000"/>
                </a:solidFill>
              </a:rPr>
              <a:t>DOENÇAS ONCOLÓGICAS</a:t>
            </a:r>
          </a:p>
          <a:p>
            <a:pPr algn="just"/>
            <a:endParaRPr lang="pt-BR" sz="2600" b="1" dirty="0">
              <a:solidFill>
                <a:srgbClr val="000000"/>
              </a:solidFill>
            </a:endParaRPr>
          </a:p>
          <a:p>
            <a:pPr algn="just"/>
            <a:r>
              <a:rPr lang="pt-BR" sz="2600" dirty="0"/>
              <a:t>O </a:t>
            </a:r>
            <a:r>
              <a:rPr lang="pt-BR" sz="2600" b="1" dirty="0">
                <a:solidFill>
                  <a:srgbClr val="FF0000"/>
                </a:solidFill>
              </a:rPr>
              <a:t>Câncer</a:t>
            </a:r>
            <a:r>
              <a:rPr lang="pt-BR" sz="2600" dirty="0"/>
              <a:t> é uma doença genética e predisponente, caracterizada pela proliferação local descontrolada de células anormais, com invasão de estruturas normais adjacentes e disseminação à distância ou metástase. 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477668" y="6406382"/>
            <a:ext cx="15313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i="1" dirty="0"/>
              <a:t>Toscano, 2008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56030" y="3182345"/>
            <a:ext cx="1050950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/>
              <a:t>Os principais sinais e sintomas da desnutrição nesses indivíduos são:</a:t>
            </a:r>
          </a:p>
          <a:p>
            <a:endParaRPr lang="pt-BR" sz="25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500" dirty="0"/>
              <a:t>Redução da ingestão de alimentos;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500" dirty="0"/>
              <a:t>Dificuldade mecânica para mastigá-los e deglutí-los;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500" dirty="0"/>
              <a:t>Alterações metabólicas relacionadas (localização, crescimento e tratamento);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500" dirty="0"/>
              <a:t>Anorexia;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500" dirty="0"/>
              <a:t>Diminuição da capacidade funcional;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500" dirty="0"/>
              <a:t>Caquexia com perda progressiva de massa magra e tecido adiposo;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500" dirty="0"/>
              <a:t>Aumento da morbimortalidade.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078" y="2883641"/>
            <a:ext cx="1402916" cy="1402916"/>
          </a:xfrm>
          <a:prstGeom prst="rect">
            <a:avLst/>
          </a:prstGeom>
        </p:spPr>
      </p:pic>
      <p:pic>
        <p:nvPicPr>
          <p:cNvPr id="5" name="Imagem 4" descr="Texto&#10;&#10;Descrição gerada automaticamente com confiança média">
            <a:extLst>
              <a:ext uri="{FF2B5EF4-FFF2-40B4-BE49-F238E27FC236}">
                <a16:creationId xmlns:a16="http://schemas.microsoft.com/office/drawing/2014/main" id="{474F535C-0D01-FCF0-6F7E-5B10A37876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18160BA-BAD6-DCB0-62AF-95E6E0C6107F}"/>
              </a:ext>
            </a:extLst>
          </p:cNvPr>
          <p:cNvSpPr/>
          <p:nvPr/>
        </p:nvSpPr>
        <p:spPr>
          <a:xfrm>
            <a:off x="7132259" y="240441"/>
            <a:ext cx="48768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Doenças x Desnutrição</a:t>
            </a:r>
          </a:p>
        </p:txBody>
      </p:sp>
    </p:spTree>
    <p:extLst>
      <p:ext uri="{BB962C8B-B14F-4D97-AF65-F5344CB8AC3E}">
        <p14:creationId xmlns:p14="http://schemas.microsoft.com/office/powerpoint/2010/main" val="306772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6888480" y="240441"/>
            <a:ext cx="512057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Fisioterapia x Desnutrição</a:t>
            </a:r>
          </a:p>
        </p:txBody>
      </p:sp>
      <p:sp>
        <p:nvSpPr>
          <p:cNvPr id="2" name="Retângulo 1"/>
          <p:cNvSpPr/>
          <p:nvPr/>
        </p:nvSpPr>
        <p:spPr>
          <a:xfrm>
            <a:off x="1426464" y="2414528"/>
            <a:ext cx="92781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800" dirty="0">
                <a:solidFill>
                  <a:srgbClr val="000000"/>
                </a:solidFill>
              </a:rPr>
              <a:t>O desenvolvimento de </a:t>
            </a:r>
            <a:r>
              <a:rPr lang="pt-BR" sz="2800" b="1" dirty="0">
                <a:solidFill>
                  <a:srgbClr val="FF0000"/>
                </a:solidFill>
              </a:rPr>
              <a:t>programas de fisioterapia </a:t>
            </a:r>
            <a:r>
              <a:rPr lang="pt-BR" sz="2800" dirty="0">
                <a:solidFill>
                  <a:srgbClr val="000000"/>
                </a:solidFill>
              </a:rPr>
              <a:t>com base no estado nutricional dos pacientes internados é de suma importância no contexto da </a:t>
            </a:r>
            <a:r>
              <a:rPr lang="pt-BR" sz="2800" b="1" dirty="0">
                <a:solidFill>
                  <a:srgbClr val="000000"/>
                </a:solidFill>
              </a:rPr>
              <a:t>reabilitação</a:t>
            </a:r>
            <a:r>
              <a:rPr lang="pt-BR" sz="2800" dirty="0">
                <a:solidFill>
                  <a:srgbClr val="000000"/>
                </a:solidFill>
              </a:rPr>
              <a:t> e da </a:t>
            </a:r>
            <a:r>
              <a:rPr lang="pt-BR" sz="2800" b="1" dirty="0">
                <a:solidFill>
                  <a:srgbClr val="000000"/>
                </a:solidFill>
              </a:rPr>
              <a:t>sobrevida</a:t>
            </a:r>
            <a:r>
              <a:rPr lang="pt-BR" sz="2800" dirty="0">
                <a:solidFill>
                  <a:srgbClr val="000000"/>
                </a:solidFill>
              </a:rPr>
              <a:t> durante e após a hospitalização. </a:t>
            </a:r>
            <a:endParaRPr lang="pt-BR" sz="2800" dirty="0"/>
          </a:p>
        </p:txBody>
      </p:sp>
      <p:sp>
        <p:nvSpPr>
          <p:cNvPr id="5" name="Retângulo 4"/>
          <p:cNvSpPr/>
          <p:nvPr/>
        </p:nvSpPr>
        <p:spPr>
          <a:xfrm>
            <a:off x="10448483" y="6347416"/>
            <a:ext cx="1560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b="1" i="1" dirty="0"/>
              <a:t>Schleder, 2013</a:t>
            </a:r>
          </a:p>
        </p:txBody>
      </p:sp>
      <p:pic>
        <p:nvPicPr>
          <p:cNvPr id="4" name="Imagem 3" descr="Texto&#10;&#10;Descrição gerada automaticamente com confiança média">
            <a:extLst>
              <a:ext uri="{FF2B5EF4-FFF2-40B4-BE49-F238E27FC236}">
                <a16:creationId xmlns:a16="http://schemas.microsoft.com/office/drawing/2014/main" id="{FDD79FF5-B4F9-E0A0-0D20-3F1A78C76ED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1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6888480" y="240441"/>
            <a:ext cx="512057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Fisioterapia x Desnutrição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12" y="1391918"/>
            <a:ext cx="9576975" cy="2847572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830255" y="4656778"/>
            <a:ext cx="10531487" cy="1230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Importância da </a:t>
            </a:r>
            <a:r>
              <a:rPr lang="pt-BR" sz="2600" b="1" dirty="0">
                <a:solidFill>
                  <a:srgbClr val="000000"/>
                </a:solidFill>
              </a:rPr>
              <a:t>equipe multidisciplinar </a:t>
            </a:r>
            <a:r>
              <a:rPr lang="pt-BR" sz="2600" dirty="0">
                <a:solidFill>
                  <a:srgbClr val="000000"/>
                </a:solidFill>
              </a:rPr>
              <a:t>para a obtenção dos melhores resultados musculoesqueléticos na reabilitação de pacientes cardiopatas.</a:t>
            </a:r>
            <a:endParaRPr lang="pt-BR" sz="2600" dirty="0"/>
          </a:p>
        </p:txBody>
      </p:sp>
      <p:pic>
        <p:nvPicPr>
          <p:cNvPr id="5" name="Imagem 4" descr="Texto&#10;&#10;Descrição gerada automaticamente com confiança média">
            <a:extLst>
              <a:ext uri="{FF2B5EF4-FFF2-40B4-BE49-F238E27FC236}">
                <a16:creationId xmlns:a16="http://schemas.microsoft.com/office/drawing/2014/main" id="{4ECE21FF-3DEC-4415-63F7-7758D787199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8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6888480" y="240441"/>
            <a:ext cx="512057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Fisioterapia x Desnutrição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309" y="1289098"/>
            <a:ext cx="7283746" cy="255736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604836" y="4265688"/>
            <a:ext cx="11270171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600" dirty="0"/>
              <a:t>Níveis </a:t>
            </a:r>
            <a:r>
              <a:rPr lang="pt-BR" sz="2600" dirty="0">
                <a:solidFill>
                  <a:srgbClr val="FF0000"/>
                </a:solidFill>
              </a:rPr>
              <a:t>elevados de intensidade</a:t>
            </a:r>
            <a:r>
              <a:rPr lang="pt-BR" sz="2600" dirty="0"/>
              <a:t> de exercício nos pacientes com perda de peso avançada e aqueles com massa muscular reduzida podem torná-los mais </a:t>
            </a:r>
            <a:r>
              <a:rPr lang="pt-BR" sz="2600" b="1" dirty="0">
                <a:solidFill>
                  <a:srgbClr val="FF0000"/>
                </a:solidFill>
              </a:rPr>
              <a:t>vulneráveis</a:t>
            </a:r>
            <a:r>
              <a:rPr lang="pt-BR" sz="2600" dirty="0"/>
              <a:t> ao impacto do estresse oxidativo (Pacientes com Doença Pulmonar Obstrutiva Crônica). </a:t>
            </a:r>
          </a:p>
          <a:p>
            <a:pPr algn="just"/>
            <a:endParaRPr lang="pt-BR" sz="2600" dirty="0"/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600" dirty="0"/>
              <a:t>Avaliação </a:t>
            </a:r>
            <a:r>
              <a:rPr lang="pt-BR" sz="2600" b="1" dirty="0"/>
              <a:t>individual</a:t>
            </a:r>
            <a:r>
              <a:rPr lang="pt-BR" sz="2600" dirty="0"/>
              <a:t> e </a:t>
            </a:r>
            <a:r>
              <a:rPr lang="pt-BR" sz="2600" b="1" dirty="0"/>
              <a:t>prescrição correta </a:t>
            </a:r>
            <a:r>
              <a:rPr lang="pt-BR" sz="2600" dirty="0"/>
              <a:t>de exercícios.</a:t>
            </a:r>
          </a:p>
        </p:txBody>
      </p:sp>
      <p:pic>
        <p:nvPicPr>
          <p:cNvPr id="4" name="Imagem 3" descr="Texto&#10;&#10;Descrição gerada automaticamente com confiança média">
            <a:extLst>
              <a:ext uri="{FF2B5EF4-FFF2-40B4-BE49-F238E27FC236}">
                <a16:creationId xmlns:a16="http://schemas.microsoft.com/office/drawing/2014/main" id="{413E5DFA-0BED-A87D-8EE3-1548FF3D645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58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6888480" y="240441"/>
            <a:ext cx="512057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Fisioterapia x Desnutrição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59" y="1461815"/>
            <a:ext cx="11715281" cy="1133737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34524" y="2944941"/>
            <a:ext cx="10722951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</a:rPr>
              <a:t>A </a:t>
            </a:r>
            <a:r>
              <a:rPr lang="pt-BR" sz="2400" b="1" dirty="0">
                <a:solidFill>
                  <a:srgbClr val="000000"/>
                </a:solidFill>
              </a:rPr>
              <a:t>reabilitação pulmonar </a:t>
            </a:r>
            <a:r>
              <a:rPr lang="pt-BR" sz="2400" dirty="0">
                <a:solidFill>
                  <a:srgbClr val="000000"/>
                </a:solidFill>
              </a:rPr>
              <a:t>em conjunto com </a:t>
            </a:r>
            <a:r>
              <a:rPr lang="pt-BR" sz="2400" b="1" dirty="0">
                <a:solidFill>
                  <a:srgbClr val="000000"/>
                </a:solidFill>
              </a:rPr>
              <a:t>atividade física</a:t>
            </a:r>
            <a:r>
              <a:rPr lang="pt-BR" sz="2400" dirty="0">
                <a:solidFill>
                  <a:srgbClr val="000000"/>
                </a:solidFill>
              </a:rPr>
              <a:t>, como intervenção principal, é eficaz para melhorar o desempenho do exercício em pacientes com DPOC. </a:t>
            </a:r>
          </a:p>
          <a:p>
            <a:pPr algn="just">
              <a:lnSpc>
                <a:spcPct val="150000"/>
              </a:lnSpc>
            </a:pPr>
            <a:endParaRPr lang="pt-BR" sz="2400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/>
              <a:t>Efeitos </a:t>
            </a:r>
            <a:r>
              <a:rPr lang="pt-BR" sz="2400" b="1" dirty="0"/>
              <a:t>significativos</a:t>
            </a:r>
            <a:r>
              <a:rPr lang="pt-BR" sz="2400" dirty="0"/>
              <a:t> em longo prazo para ganho de massa muscular, melhora de função musculoesquelética e melhora no teste de caminhada de seis minutos.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490495BB-A9BA-FB6F-8062-5F7FB6D4FD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8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6888480" y="240441"/>
            <a:ext cx="512057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Fisioterapia x Desnutrição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55" y="1895245"/>
            <a:ext cx="11031890" cy="1292661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251394" y="4032427"/>
            <a:ext cx="9095232" cy="1230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Os autores citam que o </a:t>
            </a:r>
            <a:r>
              <a:rPr lang="pt-BR" sz="2600" b="1" dirty="0">
                <a:solidFill>
                  <a:srgbClr val="000000"/>
                </a:solidFill>
              </a:rPr>
              <a:t>exercício físico</a:t>
            </a:r>
            <a:r>
              <a:rPr lang="pt-BR" sz="2600" dirty="0">
                <a:solidFill>
                  <a:srgbClr val="000000"/>
                </a:solidFill>
              </a:rPr>
              <a:t> é a única abordagem aceitável de prevenir ou retardar a atrofia muscular.</a:t>
            </a:r>
          </a:p>
        </p:txBody>
      </p:sp>
      <p:pic>
        <p:nvPicPr>
          <p:cNvPr id="5" name="Imagem 4" descr="Texto&#10;&#10;Descrição gerada automaticamente com confiança média">
            <a:extLst>
              <a:ext uri="{FF2B5EF4-FFF2-40B4-BE49-F238E27FC236}">
                <a16:creationId xmlns:a16="http://schemas.microsoft.com/office/drawing/2014/main" id="{DCE7CDB0-80D8-E35E-A04E-94434C9C2AC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8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6888480" y="240441"/>
            <a:ext cx="512057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Fisioterapia x Desnutrição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676" y="1247547"/>
            <a:ext cx="8099299" cy="237836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53998" y="4074546"/>
            <a:ext cx="1058265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600" b="1" dirty="0"/>
              <a:t>Impacto negativo </a:t>
            </a:r>
            <a:r>
              <a:rPr lang="pt-BR" sz="2600" dirty="0">
                <a:solidFill>
                  <a:srgbClr val="000000"/>
                </a:solidFill>
              </a:rPr>
              <a:t>da desnutrição associada à </a:t>
            </a:r>
            <a:r>
              <a:rPr lang="pt-BR" sz="2600" b="1" dirty="0">
                <a:solidFill>
                  <a:srgbClr val="FF0000"/>
                </a:solidFill>
              </a:rPr>
              <a:t>fraqueza muscular expiratória</a:t>
            </a:r>
            <a:r>
              <a:rPr lang="pt-BR" sz="2600" dirty="0">
                <a:solidFill>
                  <a:srgbClr val="000000"/>
                </a:solidFill>
              </a:rPr>
              <a:t> na incidência de complicações pulmonares após cirurgia abdominal alta.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2600" dirty="0">
              <a:solidFill>
                <a:srgbClr val="00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Os autores também sugerem que esta população exige cuidados respiratórios intensivos após grandes procedimentos cirúrgicos.</a:t>
            </a:r>
            <a:endParaRPr lang="pt-BR" sz="2600" dirty="0"/>
          </a:p>
        </p:txBody>
      </p:sp>
      <p:pic>
        <p:nvPicPr>
          <p:cNvPr id="2" name="Imagem 1" descr="Texto&#10;&#10;Descrição gerada automaticamente com confiança média">
            <a:extLst>
              <a:ext uri="{FF2B5EF4-FFF2-40B4-BE49-F238E27FC236}">
                <a16:creationId xmlns:a16="http://schemas.microsoft.com/office/drawing/2014/main" id="{546471E4-6FB8-91B2-BB27-A288060130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7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6888480" y="240441"/>
            <a:ext cx="512057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Fisioterapia x Desnutrição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249" y="1717087"/>
            <a:ext cx="6503501" cy="1588199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182624" y="4047744"/>
            <a:ext cx="9899904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600" dirty="0"/>
              <a:t>É citado que um </a:t>
            </a:r>
            <a:r>
              <a:rPr lang="pt-BR" sz="2600" b="1" dirty="0">
                <a:solidFill>
                  <a:srgbClr val="FF0000"/>
                </a:solidFill>
              </a:rPr>
              <a:t>programa de pré-reabilitação </a:t>
            </a:r>
            <a:r>
              <a:rPr lang="pt-BR" sz="2600" dirty="0"/>
              <a:t>de </a:t>
            </a:r>
            <a:r>
              <a:rPr lang="pt-BR" sz="2600" b="1" dirty="0"/>
              <a:t>seis semanas </a:t>
            </a:r>
            <a:r>
              <a:rPr lang="pt-BR" sz="2600" dirty="0"/>
              <a:t>seria o ideal para a melhora dos pacientes com desequilíbrio nutricional que se submeterão a um procedimento cirúrgico.</a:t>
            </a:r>
          </a:p>
        </p:txBody>
      </p:sp>
      <p:pic>
        <p:nvPicPr>
          <p:cNvPr id="4" name="Imagem 3" descr="Texto&#10;&#10;Descrição gerada automaticamente com confiança média">
            <a:extLst>
              <a:ext uri="{FF2B5EF4-FFF2-40B4-BE49-F238E27FC236}">
                <a16:creationId xmlns:a16="http://schemas.microsoft.com/office/drawing/2014/main" id="{59258415-A892-D5B2-5788-9BDC976274D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4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59" y="426720"/>
            <a:ext cx="10251092" cy="948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0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81481E-6 L 0.00091 -0.46598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2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76" y="0"/>
            <a:ext cx="10525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8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10350866" y="307026"/>
            <a:ext cx="165197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Etapas</a:t>
            </a:r>
          </a:p>
        </p:txBody>
      </p:sp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Bruno\Desktop\HC-FMUSP 2012\Fotos\H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973" y="123621"/>
            <a:ext cx="1213480" cy="950315"/>
          </a:xfrm>
          <a:prstGeom prst="rect">
            <a:avLst/>
          </a:prstGeom>
          <a:noFill/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73" y="1503902"/>
            <a:ext cx="3508188" cy="467758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360" y="1503902"/>
            <a:ext cx="3508188" cy="4677584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747" y="1503902"/>
            <a:ext cx="3508187" cy="4677583"/>
          </a:xfrm>
          <a:prstGeom prst="rect">
            <a:avLst/>
          </a:prstGeom>
        </p:spPr>
      </p:pic>
      <p:pic>
        <p:nvPicPr>
          <p:cNvPr id="10" name="Picture 2" descr="H:\Images\My photos\Foto-023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59248">
            <a:off x="2238580" y="3144467"/>
            <a:ext cx="417767" cy="9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:\Images\My photos\Foto-023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30392">
            <a:off x="5903021" y="3004336"/>
            <a:ext cx="660084" cy="15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:\Images\My photos\Foto-0231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101" y="3474432"/>
            <a:ext cx="411530" cy="12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3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Bruno\Desktop\HC-FMUSP 2012\Fotos\H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973" y="123621"/>
            <a:ext cx="1213480" cy="950315"/>
          </a:xfrm>
          <a:prstGeom prst="rect">
            <a:avLst/>
          </a:prstGeom>
          <a:noFill/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73" y="1246592"/>
            <a:ext cx="5413567" cy="5421086"/>
          </a:xfrm>
          <a:prstGeom prst="rect">
            <a:avLst/>
          </a:prstGeom>
        </p:spPr>
      </p:pic>
      <p:pic>
        <p:nvPicPr>
          <p:cNvPr id="11" name="Picture 2" descr="H:\Images\My photos\Foto-023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34486" flipV="1">
            <a:off x="2688496" y="3334514"/>
            <a:ext cx="826209" cy="28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183" y="1743457"/>
            <a:ext cx="5526759" cy="442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9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Bruno\Desktop\HC-FMUSP 2012\Fotos\H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973" y="123621"/>
            <a:ext cx="1213480" cy="950315"/>
          </a:xfrm>
          <a:prstGeom prst="rect">
            <a:avLst/>
          </a:prstGeom>
          <a:noFill/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392" y="426720"/>
            <a:ext cx="7696201" cy="6156960"/>
          </a:xfrm>
          <a:prstGeom prst="rect">
            <a:avLst/>
          </a:prstGeom>
        </p:spPr>
      </p:pic>
      <p:pic>
        <p:nvPicPr>
          <p:cNvPr id="10" name="Picture 2" descr="H:\Images\My photos\Foto-023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89742">
            <a:off x="4923304" y="1963160"/>
            <a:ext cx="303349" cy="10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21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899338" y="1775145"/>
            <a:ext cx="5741493" cy="4306120"/>
          </a:xfrm>
          <a:prstGeom prst="rect">
            <a:avLst/>
          </a:prstGeom>
        </p:spPr>
      </p:pic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Bruno\Desktop\HC-FMUSP 2012\Fotos\H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2973" y="123621"/>
            <a:ext cx="1213480" cy="950315"/>
          </a:xfrm>
          <a:prstGeom prst="rect">
            <a:avLst/>
          </a:prstGeom>
          <a:noFill/>
        </p:spPr>
      </p:pic>
      <p:sp>
        <p:nvSpPr>
          <p:cNvPr id="13" name="Retângulo 12"/>
          <p:cNvSpPr/>
          <p:nvPr/>
        </p:nvSpPr>
        <p:spPr>
          <a:xfrm>
            <a:off x="8904811" y="275612"/>
            <a:ext cx="31042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Funcionalidade</a:t>
            </a:r>
          </a:p>
        </p:txBody>
      </p:sp>
      <p:pic>
        <p:nvPicPr>
          <p:cNvPr id="18" name="Picture 2" descr="H:\Images\My photos\Foto-023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43879">
            <a:off x="5653965" y="1980664"/>
            <a:ext cx="660084" cy="22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1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Bruno\Desktop\HC-FMUSP 2012\Fotos\H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973" y="123621"/>
            <a:ext cx="1213480" cy="950315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8682069" y="306390"/>
            <a:ext cx="332699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1" dirty="0">
                <a:ln w="0"/>
                <a:latin typeface="Century Gothic" panose="020B0502020202020204" pitchFamily="34" charset="0"/>
              </a:rPr>
              <a:t>Funcionalidade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73" y="1317533"/>
            <a:ext cx="3995949" cy="5329502"/>
          </a:xfrm>
          <a:prstGeom prst="rect">
            <a:avLst/>
          </a:prstGeom>
        </p:spPr>
      </p:pic>
      <p:pic>
        <p:nvPicPr>
          <p:cNvPr id="12" name="Picture 2" descr="H:\Images\My photos\Foto-023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4095105" y="2539009"/>
            <a:ext cx="528774" cy="18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841544" y="2022644"/>
            <a:ext cx="5279076" cy="3959307"/>
          </a:xfrm>
          <a:prstGeom prst="rect">
            <a:avLst/>
          </a:prstGeom>
        </p:spPr>
      </p:pic>
      <p:pic>
        <p:nvPicPr>
          <p:cNvPr id="14" name="Picture 2" descr="H:\Images\My photos\Foto-023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8333169" y="2539009"/>
            <a:ext cx="528774" cy="18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Bruno\Desktop\HC-FMUSP 2012\Fotos\H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973" y="123621"/>
            <a:ext cx="1213480" cy="950315"/>
          </a:xfrm>
          <a:prstGeom prst="rect">
            <a:avLst/>
          </a:prstGeom>
          <a:noFill/>
        </p:spPr>
      </p:pic>
      <p:sp>
        <p:nvSpPr>
          <p:cNvPr id="6" name="Retângulo 5"/>
          <p:cNvSpPr/>
          <p:nvPr/>
        </p:nvSpPr>
        <p:spPr>
          <a:xfrm>
            <a:off x="9494572" y="275612"/>
            <a:ext cx="25144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Alternativas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7" y="2386944"/>
            <a:ext cx="6069612" cy="341415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481" y="1929744"/>
            <a:ext cx="4334575" cy="432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6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Bruno\Desktop\HC-FMUSP 2012\Fotos\H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973" y="123621"/>
            <a:ext cx="1213480" cy="950315"/>
          </a:xfrm>
          <a:prstGeom prst="rect">
            <a:avLst/>
          </a:prstGeom>
          <a:noFill/>
        </p:spPr>
      </p:pic>
      <p:sp>
        <p:nvSpPr>
          <p:cNvPr id="6" name="Retângulo 5"/>
          <p:cNvSpPr/>
          <p:nvPr/>
        </p:nvSpPr>
        <p:spPr>
          <a:xfrm>
            <a:off x="9530380" y="275612"/>
            <a:ext cx="247867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Alternativas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00252" y="2100150"/>
            <a:ext cx="5020894" cy="376567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260" y="1469804"/>
            <a:ext cx="3154018" cy="5023629"/>
          </a:xfrm>
          <a:prstGeom prst="rect">
            <a:avLst/>
          </a:prstGeom>
        </p:spPr>
      </p:pic>
      <p:pic>
        <p:nvPicPr>
          <p:cNvPr id="9" name="Picture 2" descr="H:\Images\My photos\Foto-023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43879">
            <a:off x="8042666" y="2545078"/>
            <a:ext cx="449438" cy="15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74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9653470" y="218926"/>
            <a:ext cx="235558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Conclusão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3470" y="3218484"/>
            <a:ext cx="1784324" cy="1784324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755904" y="1727168"/>
            <a:ext cx="8570976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Individualização do paciente;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Rotinas de atividade física semanais e contínuas;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Estabelecer metas;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Aumento progressivo de intensidade e carga de exercícios;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Reavaliações periódicas;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Ganho funcional;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000000"/>
                </a:solidFill>
              </a:rPr>
              <a:t>Qualidade de vida.</a:t>
            </a:r>
            <a:endParaRPr lang="pt-BR" sz="2600" dirty="0"/>
          </a:p>
        </p:txBody>
      </p:sp>
      <p:pic>
        <p:nvPicPr>
          <p:cNvPr id="4" name="Imagem 3" descr="Texto&#10;&#10;Descrição gerada automaticamente com confiança média">
            <a:extLst>
              <a:ext uri="{FF2B5EF4-FFF2-40B4-BE49-F238E27FC236}">
                <a16:creationId xmlns:a16="http://schemas.microsoft.com/office/drawing/2014/main" id="{372CADE6-031D-6442-06CC-A43BEB24663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2667000" y="974629"/>
            <a:ext cx="9342059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9653470" y="218926"/>
            <a:ext cx="235558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Conclusão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102" y="3218484"/>
            <a:ext cx="1784324" cy="1784324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402336" y="1709599"/>
            <a:ext cx="10972246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  <a:defRPr/>
            </a:pPr>
            <a:r>
              <a:rPr lang="pt-BR" altLang="pt-BR" sz="2600" dirty="0"/>
              <a:t>Desnutridos são mais susceptíveis a atelectasias, pneumonias e congestão pulmonar;</a:t>
            </a:r>
          </a:p>
          <a:p>
            <a:pPr marL="457200" indent="-457200" algn="just">
              <a:buFont typeface="Wingdings" panose="05000000000000000000" pitchFamily="2" charset="2"/>
              <a:buChar char="§"/>
              <a:defRPr/>
            </a:pPr>
            <a:endParaRPr lang="pt-BR" altLang="pt-BR" sz="2600" dirty="0"/>
          </a:p>
          <a:p>
            <a:pPr marL="457200" indent="-457200" algn="just">
              <a:buFont typeface="Wingdings" panose="05000000000000000000" pitchFamily="2" charset="2"/>
              <a:buChar char="§"/>
              <a:defRPr/>
            </a:pPr>
            <a:r>
              <a:rPr lang="pt-BR" altLang="pt-BR" sz="2600" dirty="0"/>
              <a:t>Desnutridos perdem força muscular, logo têm tosse prejudicada;</a:t>
            </a:r>
          </a:p>
          <a:p>
            <a:pPr marL="457200" indent="-457200" algn="just">
              <a:buFont typeface="Wingdings" panose="05000000000000000000" pitchFamily="2" charset="2"/>
              <a:buChar char="§"/>
              <a:defRPr/>
            </a:pPr>
            <a:endParaRPr lang="pt-BR" altLang="pt-BR" sz="2600" dirty="0"/>
          </a:p>
          <a:p>
            <a:pPr marL="457200" indent="-457200" algn="just">
              <a:buFont typeface="Wingdings" panose="05000000000000000000" pitchFamily="2" charset="2"/>
              <a:buChar char="§"/>
              <a:defRPr/>
            </a:pPr>
            <a:r>
              <a:rPr lang="pt-BR" sz="2600" dirty="0">
                <a:cs typeface="Arial" charset="0"/>
              </a:rPr>
              <a:t>Desnutridos têm menor resposta à hipóxia;</a:t>
            </a:r>
          </a:p>
          <a:p>
            <a:pPr marL="457200" indent="-457200" algn="just">
              <a:buFont typeface="Wingdings" panose="05000000000000000000" pitchFamily="2" charset="2"/>
              <a:buChar char="§"/>
              <a:defRPr/>
            </a:pPr>
            <a:endParaRPr lang="pt-BR" sz="2600" dirty="0">
              <a:cs typeface="Arial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  <a:defRPr/>
            </a:pPr>
            <a:r>
              <a:rPr lang="pt-BR" sz="2600" dirty="0">
                <a:cs typeface="Arial" charset="0"/>
              </a:rPr>
              <a:t>Desnutridos não podem ser expostos a grandes esforços;</a:t>
            </a:r>
          </a:p>
          <a:p>
            <a:pPr marL="457200" indent="-457200" algn="just">
              <a:buFont typeface="Wingdings" panose="05000000000000000000" pitchFamily="2" charset="2"/>
              <a:buChar char="§"/>
              <a:defRPr/>
            </a:pPr>
            <a:endParaRPr lang="pt-BR" altLang="pt-BR" sz="2600" dirty="0">
              <a:cs typeface="Arial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  <a:defRPr/>
            </a:pPr>
            <a:r>
              <a:rPr lang="pt-BR" sz="2600" dirty="0">
                <a:cs typeface="Arial" charset="0"/>
              </a:rPr>
              <a:t>Desnutridos precisam de mais tempo de descanso para obterem relaxamento muscular.</a:t>
            </a:r>
          </a:p>
        </p:txBody>
      </p:sp>
      <p:pic>
        <p:nvPicPr>
          <p:cNvPr id="4" name="Imagem 3" descr="Texto&#10;&#10;Descrição gerada automaticamente com confiança média">
            <a:extLst>
              <a:ext uri="{FF2B5EF4-FFF2-40B4-BE49-F238E27FC236}">
                <a16:creationId xmlns:a16="http://schemas.microsoft.com/office/drawing/2014/main" id="{8F846DB6-D345-899B-11C4-18378FEE522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5"/>
          <a:stretch/>
        </p:blipFill>
        <p:spPr>
          <a:xfrm>
            <a:off x="293778" y="289209"/>
            <a:ext cx="1825968" cy="4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9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to 26"/>
          <p:cNvCxnSpPr/>
          <p:nvPr/>
        </p:nvCxnSpPr>
        <p:spPr>
          <a:xfrm>
            <a:off x="1780032" y="1024128"/>
            <a:ext cx="10411968" cy="1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414" y="1153715"/>
            <a:ext cx="7476862" cy="5473589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780032" y="270995"/>
            <a:ext cx="1022902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0"/>
              </a:rPr>
              <a:t>PROFISIO – Fisioterapia Cardiovascular e Respiratória</a:t>
            </a:r>
          </a:p>
        </p:txBody>
      </p:sp>
      <p:sp>
        <p:nvSpPr>
          <p:cNvPr id="8" name="Retângulo 7"/>
          <p:cNvSpPr/>
          <p:nvPr/>
        </p:nvSpPr>
        <p:spPr>
          <a:xfrm>
            <a:off x="9980233" y="1153715"/>
            <a:ext cx="21268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ln w="0"/>
              </a:rPr>
              <a:t>Ciclo 2 – Volume 4</a:t>
            </a:r>
          </a:p>
        </p:txBody>
      </p:sp>
    </p:spTree>
    <p:extLst>
      <p:ext uri="{BB962C8B-B14F-4D97-AF65-F5344CB8AC3E}">
        <p14:creationId xmlns:p14="http://schemas.microsoft.com/office/powerpoint/2010/main" val="106746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98356" y="473741"/>
            <a:ext cx="4664590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000" b="1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sp>
        <p:nvSpPr>
          <p:cNvPr id="10" name="Retângulo 9"/>
          <p:cNvSpPr/>
          <p:nvPr/>
        </p:nvSpPr>
        <p:spPr>
          <a:xfrm>
            <a:off x="794101" y="6003892"/>
            <a:ext cx="538630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bruno.aquino@mackenzie.br</a:t>
            </a:r>
          </a:p>
        </p:txBody>
      </p:sp>
      <p:pic>
        <p:nvPicPr>
          <p:cNvPr id="1026" name="Picture 2" descr="único terapeuta de desenho de linha ajudando o paciente a levantar a perna  para o exercício.">
            <a:extLst>
              <a:ext uri="{FF2B5EF4-FFF2-40B4-BE49-F238E27FC236}">
                <a16:creationId xmlns:a16="http://schemas.microsoft.com/office/drawing/2014/main" id="{34AAAB5C-CDD1-CB4C-8C3C-3A0088C4F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651" y="1460356"/>
            <a:ext cx="5905932" cy="393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12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Facetado">
  <a:themeElements>
    <a:clrScheme name="Azul Quent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22760</TotalTime>
  <Words>1247</Words>
  <Application>Microsoft Office PowerPoint</Application>
  <PresentationFormat>Widescreen</PresentationFormat>
  <Paragraphs>213</Paragraphs>
  <Slides>39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Century Gothic</vt:lpstr>
      <vt:lpstr>Footlight MT Light</vt:lpstr>
      <vt:lpstr>Trebuchet MS</vt:lpstr>
      <vt:lpstr>Wingdings</vt:lpstr>
      <vt:lpstr>Wingdings 3</vt:lpstr>
      <vt:lpstr>Facetado</vt:lpstr>
      <vt:lpstr>Tema do Office</vt:lpstr>
      <vt:lpstr>Apresentação do PowerPoint</vt:lpstr>
      <vt:lpstr>Apresentação do PowerPoint</vt:lpstr>
      <vt:lpstr>Apresentação do PowerPoint</vt:lpstr>
      <vt:lpstr>Fatores associados à desnutrição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Aquino</dc:creator>
  <cp:lastModifiedBy>BRUNO GARCIA DE AQUINO</cp:lastModifiedBy>
  <cp:revision>971</cp:revision>
  <dcterms:created xsi:type="dcterms:W3CDTF">2015-03-25T02:36:28Z</dcterms:created>
  <dcterms:modified xsi:type="dcterms:W3CDTF">2025-05-09T02:19:38Z</dcterms:modified>
</cp:coreProperties>
</file>